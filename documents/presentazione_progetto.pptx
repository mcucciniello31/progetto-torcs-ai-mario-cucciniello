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06B6D4"/>
                </a:solidFill>
                <a:latin typeface="Arial"/>
              </a:defRPr>
            </a:pPr>
            <a:r>
              <a:t>Guida Autonoma su TORCS</a:t>
            </a:r>
          </a:p>
          <a:p>
            <a:pPr>
              <a:spcBef>
                <a:spcPts val="14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Behavioral Cloning tramite Regressore K-Nearest Neighbors</a:t>
            </a:r>
          </a:p>
          <a:p>
            <a:pPr>
              <a:spcBef>
                <a:spcPts val="40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Progetto di Intelligenza Artificiale: Metodi e Applicazioni</a:t>
            </a:r>
            <a:br/>
            <a:r>
              <a:t>Studente: Mario Cucciniello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Arial"/>
              </a:defRPr>
            </a:pPr>
            <a:r>
              <a:t>Obiettivo e Architettura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Behavioral Cloning (Imitation Learning):</a:t>
            </a:r>
            <a:r>
              <a:rPr sz="1800">
                <a:solidFill>
                  <a:srgbClr val="FFFFFF"/>
                </a:solidFill>
                <a:latin typeface="Arial"/>
              </a:rPr>
              <a:t> Approccio Supervisionato in cui l'agente apprende direttamente da un dataset di dimostrazioni umane. L'addestramento è immediato, deterministico ed evita il rischio di comportamenti anomali.</a:t>
            </a:r>
          </a:p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Reinforcement Learning (RL) - L'Alternativa:</a:t>
            </a:r>
            <a:r>
              <a:rPr sz="1800">
                <a:solidFill>
                  <a:srgbClr val="FFFFFF"/>
                </a:solidFill>
                <a:latin typeface="Arial"/>
              </a:rPr>
              <a:t> Si basa su tentativi ed errori (trial and error) massimizzando una ricompensa. Richiede tempi lunghissimi di calcolo, simulazioni infinite e un design complesso per la funzione di reward.</a:t>
            </a:r>
          </a:p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Perché la scelta del Behavioral Cloning:</a:t>
            </a:r>
            <a:r>
              <a:rPr sz="1800">
                <a:solidFill>
                  <a:srgbClr val="FFFFFF"/>
                </a:solidFill>
                <a:latin typeface="Arial"/>
              </a:rPr>
              <a:t> Permette di catturare istantaneamente la traiettoria ideale e lo stile di guida del pilota umano, garantendo stabilità immediata sul tracciato ed evitando fasi esplorative distruttive (crash).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Arial"/>
              </a:defRPr>
            </a:pPr>
            <a:r>
              <a:t>Preparazione Dati e Addestramento KNN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Raccolta delle Feature:</a:t>
            </a:r>
            <a:r>
              <a:rPr sz="1800">
                <a:solidFill>
                  <a:srgbClr val="FFFFFF"/>
                </a:solidFill>
                <a:latin typeface="Arial"/>
              </a:rPr>
              <a:t> Vengono utilizzate 24 feature fisiche per rappresentare lo stato del veicolo: inclinazione (angle), posizione in pista (trackPos), velocità (speedX, speedY) e 19 sensori laser di distanza dai bordi.</a:t>
            </a:r>
          </a:p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Bilanciamento dei Dati:</a:t>
            </a:r>
            <a:r>
              <a:rPr sz="1800">
                <a:solidFill>
                  <a:srgbClr val="FFFFFF"/>
                </a:solidFill>
                <a:latin typeface="Arial"/>
              </a:rPr>
              <a:t> Per compensare il sovrannumero di tratti in accelerazione, il dataset viene bilanciato eliminando i campioni ridondanti in rettilineo per dare maggiore peso alle zone di frenata.</a:t>
            </a:r>
          </a:p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Addestramento del Modello:</a:t>
            </a:r>
            <a:r>
              <a:rPr sz="1800">
                <a:solidFill>
                  <a:srgbClr val="FFFFFF"/>
                </a:solidFill>
                <a:latin typeface="Arial"/>
              </a:rPr>
              <a:t> Viene utilizzato un regressore KNeighborsRegressor con K=3, pesi basati sulla distanza ed algoritmo Ball Tree per garantire tempi di risposta inferiori al millisecondo in fase di inferenza.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Arial"/>
              </a:defRPr>
            </a:pPr>
            <a:r>
              <a:t>Sistemi di Controllo e Ottimizzazioni Fisiche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Multiplicatori di Controllo (Boost):</a:t>
            </a:r>
            <a:r>
              <a:rPr sz="1800">
                <a:solidFill>
                  <a:srgbClr val="FFFFFF"/>
                </a:solidFill>
                <a:latin typeface="Arial"/>
              </a:rPr>
              <a:t> Per compensare l'effetto di appiattimento (smoothing) tipico del KNN sulle decisioni repentine, sono applicati boost moltiplicativi allo sterzo (1.2x) e alla frenata (2.5x).</a:t>
            </a:r>
          </a:p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Frenata Preventiva Chicane:</a:t>
            </a:r>
            <a:r>
              <a:rPr sz="1800">
                <a:solidFill>
                  <a:srgbClr val="FFFFFF"/>
                </a:solidFill>
                <a:latin typeface="Arial"/>
              </a:rPr>
              <a:t> Se la velocità è sostenuta (&gt;70 km/h), le ruote sono diritte (steer &lt; 0.05) e la distanza anteriore scende sotto i 20 metri, viene forzata una frenata decisa a 0.7 e tagliato il gas per impostare la chicane.</a:t>
            </a:r>
          </a:p>
          <a:p>
            <a:pPr>
              <a:spcAft>
                <a:spcPts val="20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Sistemi ABS &amp; TCS Attivi:</a:t>
            </a:r>
            <a:r>
              <a:rPr sz="1800">
                <a:solidFill>
                  <a:srgbClr val="FFFFFF"/>
                </a:solidFill>
                <a:latin typeface="Arial"/>
              </a:rPr>
              <a:t> Controlli dinamici basati sullo spin delle ruote (wheelSpinVel) riducono la pressione frenante se le ruote anteriori si bloccano, ed eliminano lo slittamento posteriore dimezzando l'accelerazione.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Arial"/>
              </a:defRPr>
            </a:pPr>
            <a:r>
              <a:t>Risultati Ottenuti e Conclusioni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Stabilità ed Efficacia della Guida:</a:t>
            </a:r>
            <a:r>
              <a:rPr sz="1800">
                <a:solidFill>
                  <a:srgbClr val="FFFFFF"/>
                </a:solidFill>
                <a:latin typeface="Arial"/>
              </a:rPr>
              <a:t> L'agente di guida autonoma riesce a completare l'intero circuito di prova senza mai uscire di pista o collisioni con i muretti.</a:t>
            </a:r>
          </a:p>
          <a:p>
            <a:pPr>
              <a:spcAft>
                <a:spcPts val="24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Performance Cronometriche eccellenti:</a:t>
            </a:r>
            <a:r>
              <a:rPr sz="1800">
                <a:solidFill>
                  <a:srgbClr val="FFFFFF"/>
                </a:solidFill>
                <a:latin typeface="Arial"/>
              </a:rPr>
              <a:t> Registrato un tempo sul giro migliore di 01:22.56, dimostrando l'efficacia delle tarature dei moltiplicatori e della staccata preventiva della chicane.</a:t>
            </a:r>
          </a:p>
          <a:p>
            <a:pPr>
              <a:spcAft>
                <a:spcPts val="2400"/>
              </a:spcAft>
            </a:pPr>
            <a:r>
              <a:rPr sz="2000" b="1">
                <a:solidFill>
                  <a:srgbClr val="06B6D4"/>
                </a:solidFill>
                <a:latin typeface="Arial"/>
              </a:rPr>
              <a:t>• Latenza di Inferenza ultra-bassa:</a:t>
            </a:r>
            <a:r>
              <a:rPr sz="1800">
                <a:solidFill>
                  <a:srgbClr val="FFFFFF"/>
                </a:solidFill>
                <a:latin typeface="Arial"/>
              </a:rPr>
              <a:t> L'uso di strutture ad albero Ball Tree per la ricerca dei vicini prossimi assicura tempi di predizione infinitesimi, eliminando lag o disconnessioni UDP dal simulatore.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